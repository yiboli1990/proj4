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9672"/>
            <a:ext cx="11201400" cy="0"/>
          </a:xfrm>
          <a:prstGeom prst="line">
            <a:avLst/>
          </a:prstGeom>
          <a:noFill/>
          <a:ln w="8890">
            <a:solidFill>
              <a:srgbClr val="D6DD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65392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4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BRC mockup | illustrative format only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2331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BRC Model Risk Reporting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68096" y="29443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485"/>
                </a:solidFill>
              </a:rPr>
              <a:t>Mockup slide for aggregate model risk profile and streamlined Board reporting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" y="3456432"/>
            <a:ext cx="1481328" cy="256032"/>
          </a:xfrm>
          <a:prstGeom prst="roundRect">
            <a:avLst>
              <a:gd name="adj" fmla="val 28571"/>
            </a:avLst>
          </a:prstGeom>
          <a:solidFill>
            <a:srgbClr val="2E75B6"/>
          </a:solidFill>
          <a:ln w="12700">
            <a:solidFill>
              <a:srgbClr val="2E75B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3497580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DRAFT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395728" y="35021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5"/>
                </a:solidFill>
              </a:rPr>
              <a:t>For discussion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281160" y="2926080"/>
            <a:ext cx="1737360" cy="1737360"/>
          </a:xfrm>
          <a:prstGeom prst="arc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BRC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Aggregate Model Risk Profile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A74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Board-level view focused on scale, activity flow, emerging themes and risk appetite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106424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1064240" cy="420624"/>
          </a:xfrm>
          <a:prstGeom prst="rect">
            <a:avLst/>
          </a:prstGeom>
          <a:solidFill>
            <a:srgbClr val="EAF2F8"/>
          </a:solidFill>
          <a:ln w="8890">
            <a:solidFill>
              <a:srgbClr val="C7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26464"/>
            <a:ext cx="10424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365D"/>
                </a:solidFill>
              </a:rPr>
              <a:t>Proposed BRC framing: RAS metrics remain within thresholds; no significant model risk concerns to highlight during the period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66928" y="197510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Key messages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" y="2414016"/>
            <a:ext cx="54864" cy="54864"/>
          </a:xfrm>
          <a:prstGeom prst="arc">
            <a:avLst/>
          </a:prstGeom>
          <a:solidFill>
            <a:srgbClr val="2E75B6"/>
          </a:solidFill>
          <a:ln w="12700">
            <a:solidFill>
              <a:srgbClr val="2E75B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359152"/>
            <a:ext cx="3703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2A"/>
                </a:solidFill>
              </a:rPr>
              <a:t>Inventory remains broadly stable, with new activity concentrated in AI-enabled and automation use cases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" y="2907792"/>
            <a:ext cx="54864" cy="54864"/>
          </a:xfrm>
          <a:prstGeom prst="arc">
            <a:avLst/>
          </a:prstGeom>
          <a:solidFill>
            <a:srgbClr val="2E75B6"/>
          </a:solidFill>
          <a:ln w="12700">
            <a:solidFill>
              <a:srgbClr val="2E75B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852928"/>
            <a:ext cx="3703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2A"/>
                </a:solidFill>
              </a:rPr>
              <a:t>Finding volume and aging should be shown through inflow / closure trends rather than detailed operational tables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" y="3401568"/>
            <a:ext cx="54864" cy="54864"/>
          </a:xfrm>
          <a:prstGeom prst="arc">
            <a:avLst/>
          </a:prstGeom>
          <a:solidFill>
            <a:srgbClr val="2E75B6"/>
          </a:solidFill>
          <a:ln w="12700">
            <a:solidFill>
              <a:srgbClr val="2E75B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346704"/>
            <a:ext cx="3703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2A"/>
                </a:solidFill>
              </a:rPr>
              <a:t>RAS metrics continue to serve as the primary escalation view for threshold breaches and material risk appetite concerns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41330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A7485"/>
                </a:solidFill>
              </a:rPr>
              <a:t>Board question this slide answers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566928" y="4389120"/>
            <a:ext cx="3886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02A"/>
                </a:solidFill>
              </a:rPr>
              <a:t>How large is the model population, how is it changing, and are there material trends requiring Board attention?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4709160" y="1975104"/>
            <a:ext cx="1572768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5464" y="209397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A7485"/>
                </a:solidFill>
              </a:rPr>
              <a:t>TOTAL MODELS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4855464" y="22677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</a:rPr>
              <a:t>TBD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55464" y="255117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A7485"/>
                </a:solidFill>
              </a:rPr>
              <a:t>q/q net change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6446520" y="1975104"/>
            <a:ext cx="1572768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92824" y="209397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A7485"/>
                </a:solidFill>
              </a:rPr>
              <a:t>NEW MODELS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6592824" y="22677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87E8B"/>
                </a:solidFill>
              </a:rPr>
              <a:t>+TBD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92824" y="255117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A7485"/>
                </a:solidFill>
              </a:rPr>
              <a:t>period additions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8183880" y="1975104"/>
            <a:ext cx="1572768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0184" y="209397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A7485"/>
                </a:solidFill>
              </a:rPr>
              <a:t>RETIRED MODELS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8330184" y="22677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55A11"/>
                </a:solidFill>
              </a:rPr>
              <a:t>−TBD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330184" y="255117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A7485"/>
                </a:solidFill>
              </a:rPr>
              <a:t>period removals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9921240" y="1975104"/>
            <a:ext cx="1572768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67544" y="209397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A7485"/>
                </a:solidFill>
              </a:rPr>
              <a:t>RAS STATUS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10067544" y="22677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548235"/>
                </a:solidFill>
              </a:rPr>
              <a:t>Within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067544" y="255117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A7485"/>
                </a:solidFill>
              </a:rPr>
              <a:t>all thresholds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4709160" y="316382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</a:rPr>
              <a:t>Inventory flow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709160" y="340156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A7485"/>
                </a:solidFill>
              </a:rPr>
              <a:t>Opening inventory + additions − retirements = ending inventory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4709160" y="3946550"/>
            <a:ext cx="512064" cy="57058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36008" y="369966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2A"/>
                </a:solidFill>
              </a:rPr>
              <a:t>TBD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45152" y="460857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5"/>
                </a:solidFill>
              </a:rPr>
              <a:t>Opening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5559552" y="4217579"/>
            <a:ext cx="512064" cy="299557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3970691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2A"/>
                </a:solidFill>
              </a:rPr>
              <a:t>+TBD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95544" y="460857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5"/>
                </a:solidFill>
              </a:rPr>
              <a:t>Added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6409944" y="4317431"/>
            <a:ext cx="512064" cy="199705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36792" y="4070543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2A"/>
                </a:solidFill>
              </a:rPr>
              <a:t>−TBD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45936" y="460857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5"/>
                </a:solidFill>
              </a:rPr>
              <a:t>Retired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7260336" y="3960815"/>
            <a:ext cx="512064" cy="556321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7184" y="3713927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2A"/>
                </a:solidFill>
              </a:rPr>
              <a:t>TBD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196328" y="460857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5"/>
                </a:solidFill>
              </a:rPr>
              <a:t>Ending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4709160" y="4535424"/>
            <a:ext cx="306324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4882896"/>
            <a:ext cx="3063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i="1" dirty="0">
                <a:solidFill>
                  <a:srgbClr val="6A7485"/>
                </a:solidFill>
              </a:rPr>
              <a:t>Replace placeholders with period actuals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8275320" y="316382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</a:rPr>
              <a:t>Findings flow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275320" y="340156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A7485"/>
                </a:solidFill>
              </a:rPr>
              <a:t>Open findings + raised − closed = ending open findings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8275320" y="3989344"/>
            <a:ext cx="512064" cy="527792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02168" y="374245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2A"/>
                </a:solidFill>
              </a:rPr>
              <a:t>TBD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211312" y="460857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5"/>
                </a:solidFill>
              </a:rPr>
              <a:t>Opening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9125712" y="4246108"/>
            <a:ext cx="512064" cy="271028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52560" y="399922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2A"/>
                </a:solidFill>
              </a:rPr>
              <a:t>+TBD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9061704" y="460857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5"/>
                </a:solidFill>
              </a:rPr>
              <a:t>Raised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9976104" y="4146255"/>
            <a:ext cx="512064" cy="370881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902952" y="3899367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2A"/>
                </a:solidFill>
              </a:rPr>
              <a:t>−TBD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912096" y="460857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5"/>
                </a:solidFill>
              </a:rPr>
              <a:t>Closed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10826496" y="4046403"/>
            <a:ext cx="512064" cy="470733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753344" y="3799515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2A"/>
                </a:solidFill>
              </a:rPr>
              <a:t>TBD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0762488" y="460857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A7485"/>
                </a:solidFill>
              </a:rPr>
              <a:t>Ending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8275320" y="4535424"/>
            <a:ext cx="306324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75320" y="4882896"/>
            <a:ext cx="3063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i="1" dirty="0">
                <a:solidFill>
                  <a:srgbClr val="6A7485"/>
                </a:solidFill>
              </a:rPr>
              <a:t>Replace placeholders with period actuals</a:t>
            </a:r>
            <a:endParaRPr lang="en-US" sz="660" dirty="0"/>
          </a:p>
        </p:txBody>
      </p:sp>
      <p:sp>
        <p:nvSpPr>
          <p:cNvPr id="64" name="Shape 62"/>
          <p:cNvSpPr/>
          <p:nvPr/>
        </p:nvSpPr>
        <p:spPr>
          <a:xfrm>
            <a:off x="4709160" y="5513832"/>
            <a:ext cx="6629400" cy="512064"/>
          </a:xfrm>
          <a:prstGeom prst="rect">
            <a:avLst/>
          </a:prstGeom>
          <a:solidFill>
            <a:srgbClr val="F4F6F8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92040" y="5669280"/>
            <a:ext cx="6263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7202A"/>
                </a:solidFill>
              </a:rPr>
              <a:t>Suggested simplification: replace 3–4 detailed inventory / validation slides with this aggregate view plus the existing RAS metrics page</a:t>
            </a:r>
            <a:endParaRPr lang="en-US" sz="9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BRC Model Risk Reporting Mockup</dc:title>
  <dc:subject>BRC model risk reporting mockup</dc:subject>
  <dc:creator>OpenAI</dc:creator>
  <cp:lastModifiedBy>OpenAI</cp:lastModifiedBy>
  <cp:revision>1</cp:revision>
  <dcterms:created xsi:type="dcterms:W3CDTF">2026-05-20T15:27:52Z</dcterms:created>
  <dcterms:modified xsi:type="dcterms:W3CDTF">2026-05-20T15:27:52Z</dcterms:modified>
</cp:coreProperties>
</file>